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6A00"/>
                </a:solidFill>
                <a:latin typeface="PingFang SC"/>
              </a:rPr>
              <a:t>闭源（API）</a:t>
            </a:r>
            <a:r>
              <a:rPr sz="3000" b="1">
                <a:solidFill>
                  <a:srgbClr val="1F2329"/>
                </a:solidFill>
                <a:latin typeface="PingFang SC"/>
              </a:rPr>
              <a:t> vs </a:t>
            </a:r>
            <a:r>
              <a:rPr sz="3000" b="1">
                <a:solidFill>
                  <a:srgbClr val="0BA5A5"/>
                </a:solidFill>
                <a:latin typeface="PingFang SC"/>
              </a:rPr>
              <a:t>开源（权重发布）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470"/>
                </a:solidFill>
                <a:latin typeface="PingFang SC"/>
              </a:rPr>
              <a:t>大模型选型对比 · 11 个关键维度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83112" cy="50730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4535424"/>
                <a:gridCol w="454456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</a:rPr>
                        <a:t>对比维度</a:t>
                      </a:r>
                    </a:p>
                  </a:txBody>
                  <a:tcPr anchor="ctr" marL="164592" marT="54864" marB="54864">
                    <a:solidFill>
                      <a:srgbClr val="1F23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</a:rPr>
                        <a:t>闭源</a:t>
                      </a:r>
                    </a:p>
                    <a:p>
                      <a:r>
                        <a:rPr sz="950">
                          <a:solidFill>
                            <a:srgbClr val="FFFFFF"/>
                          </a:solidFill>
                          <a:latin typeface="PingFang SC"/>
                        </a:rPr>
                        <a:t>API · 托管调用</a:t>
                      </a:r>
                    </a:p>
                  </a:txBody>
                  <a:tcPr anchor="ctr" marL="164592" marT="54864" marB="54864">
                    <a:solidFill>
                      <a:srgbClr val="FF6A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</a:rPr>
                        <a:t>开源</a:t>
                      </a:r>
                    </a:p>
                    <a:p>
                      <a:r>
                        <a:rPr sz="950">
                          <a:solidFill>
                            <a:srgbClr val="FFFFFF"/>
                          </a:solidFill>
                          <a:latin typeface="PingFang SC"/>
                        </a:rPr>
                        <a:t>权重发布 · 自行部署</a:t>
                      </a:r>
                    </a:p>
                  </a:txBody>
                  <a:tcPr anchor="ctr" marL="164592" marT="54864" marB="54864">
                    <a:solidFill>
                      <a:srgbClr val="0BA5A5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模型能力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同名版本通常更强，持续优化迭代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发布时刻的固定快照，能力不再更新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上下文长度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更长（如 Qwen-Long 1M tokens）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通常 32K/128K，需自行扩展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训练数据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可能用了更多 / 更新的数据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发布时的训练数据截止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对齐与安全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更严格，根据线上反馈持续调整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固定状态，用户可微调修改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推理性能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专有推理加速，低延迟高吞吐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自行部署优化（vLLM / TGI 等）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功能完整度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Tool calling、structured output 等更成熟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基础能力具备，工程化需自建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更新方式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静默升级，同 endpoint 背后模型可能已迭代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版本固定，等下一个 release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数据安全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数据经过服务商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私有部署，数据不出域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定制化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仅支持 API 参数调整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可全量微调 / LoRA / 量化等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成本模式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按 token 付费，无需 GPU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需自备算力，一次性部署成本高</a:t>
                      </a:r>
                    </a:p>
                  </a:txBody>
                  <a:tcPr anchor="ctr" marL="164592" marT="36576" marB="36576">
                    <a:solidFill>
                      <a:srgbClr val="FAFAFA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9"/>
                          </a:solidFill>
                          <a:latin typeface="PingFang SC"/>
                        </a:rPr>
                        <a:t>适用场景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追求最优效果、快速上线、不敏感数据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4404D"/>
                          </a:solidFill>
                          <a:latin typeface="PingFang SC"/>
                        </a:rPr>
                        <a:t>私有化部署、领域微调、数据合规要求高</a:t>
                      </a:r>
                    </a:p>
                  </a:txBody>
                  <a:tcPr anchor="ctr" marL="16459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